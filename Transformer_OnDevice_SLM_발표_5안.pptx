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embeddedFontLst>
    <p:embeddedFont>
      <p:font typeface="No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NotoSans-bold.fntdata"/><Relationship Id="rId23" Type="http://schemas.openxmlformats.org/officeDocument/2006/relationships/font" Target="fonts/Noto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boldItalic.fntdata"/><Relationship Id="rId25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[0:00-0:10] 표지</a:t>
            </a:r>
            <a:br>
              <a:rPr lang="en-US"/>
            </a:br>
            <a:br>
              <a:rPr lang="en-US"/>
            </a:br>
            <a:r>
              <a:rPr lang="en-US"/>
              <a:t>안녕하세요. 삼육대학교 인공지능융합학부 김현우, 김민솔, 김진희입니다.</a:t>
            </a:r>
            <a:br>
              <a:rPr lang="en-US"/>
            </a:br>
            <a:r>
              <a:rPr lang="en-US"/>
              <a:t>오늘 중간발표 주제는 "온디바이스 SLM은 왜 느린가?"입니다.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967e6073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d967e6073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[0:00-0:10] 표지</a:t>
            </a:r>
            <a:br>
              <a:rPr lang="en-US"/>
            </a:br>
            <a:br>
              <a:rPr lang="en-US"/>
            </a:br>
            <a:r>
              <a:rPr lang="en-US"/>
              <a:t>안녕하세요. 삼육대학교 인공지능융합학부 김현우, 김민솔, 김진희입니다.</a:t>
            </a:r>
            <a:br>
              <a:rPr lang="en-US"/>
            </a:br>
            <a:r>
              <a:rPr lang="en-US"/>
              <a:t>오늘 중간발표 주제는 "온디바이스 SLM은 왜 느린가?"입니다.</a:t>
            </a:r>
            <a:endParaRPr/>
          </a:p>
        </p:txBody>
      </p:sp>
      <p:sp>
        <p:nvSpPr>
          <p:cNvPr id="23" name="Google Shape;23;g3d967e60736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d967e60736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d967e60736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[0:00-0:10] 표지</a:t>
            </a:r>
            <a:br>
              <a:rPr lang="en-US"/>
            </a:br>
            <a:br>
              <a:rPr lang="en-US"/>
            </a:br>
            <a:r>
              <a:rPr lang="en-US"/>
              <a:t>안녕하세요. 삼육대학교 인공지능융합학부 김현우, 김민솔, 김진희입니다.</a:t>
            </a:r>
            <a:br>
              <a:rPr lang="en-US"/>
            </a:br>
            <a:r>
              <a:rPr lang="en-US"/>
              <a:t>오늘 중간발표 주제는 "온디바이스 SLM은 왜 느린가?"입니다.</a:t>
            </a:r>
            <a:endParaRPr/>
          </a:p>
        </p:txBody>
      </p:sp>
      <p:sp>
        <p:nvSpPr>
          <p:cNvPr id="37" name="Google Shape;37;g3d967e60736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[0:10-0:40] 연구 질문</a:t>
            </a:r>
            <a:br>
              <a:rPr lang="en-US"/>
            </a:br>
            <a:br>
              <a:rPr lang="en-US"/>
            </a:br>
            <a:r>
              <a:rPr lang="en-US"/>
              <a:t>많은 분들이 LLM이 느린 이유를 attention의 O(n²) 때문이라고 알고 계십니다.</a:t>
            </a:r>
            <a:br>
              <a:rPr lang="en-US"/>
            </a:br>
            <a:br>
              <a:rPr lang="en-US"/>
            </a:br>
            <a:r>
              <a:rPr lang="en-US"/>
              <a:t>정말 그런가? 저희는 이 질문에 답하기 위해 Gemma 3N E4B를 실제 하드웨어에서 돌리고, 컴포넌트별 시간을 측정했습니다.</a:t>
            </a:r>
            <a:br>
              <a:rPr lang="en-US"/>
            </a:br>
            <a:br>
              <a:rPr lang="en-US"/>
            </a:br>
            <a:r>
              <a:rPr lang="en-US"/>
              <a:t>[애니메이션: "Attention 연산?" 먼저 나타남 → "Memory Access?" 나타남 → "직접 측정" Fade In]</a:t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[1:40-2:20] 실험 환경</a:t>
            </a:r>
            <a:br>
              <a:rPr lang="en-US"/>
            </a:br>
            <a:br>
              <a:rPr lang="en-US"/>
            </a:br>
            <a:r>
              <a:rPr lang="en-US"/>
              <a:t>모델은 구글의 Gemma 3N E4B입니다. 온디바이스용으로 설계된 모델이고 GQA 4:1 구조입니다.</a:t>
            </a:r>
            <a:br>
              <a:rPr lang="en-US"/>
            </a:br>
            <a:br>
              <a:rPr lang="en-US"/>
            </a:br>
            <a:r>
              <a:rPr lang="en-US"/>
              <a:t>가중치는 INT4, 활성화는 FP32입니다. 약 2.8GB입니다.</a:t>
            </a:r>
            <a:br>
              <a:rPr lang="en-US"/>
            </a:br>
            <a:br>
              <a:rPr lang="en-US"/>
            </a:br>
            <a:r>
              <a:rPr lang="en-US"/>
              <a:t>하드웨어는 소비자급 노트북 Ryzen 5 4500U이고, LPDDR4X 16GB로 모바일 기기와 비슷한 대역폭 제약이 있습니다.</a:t>
            </a:r>
            <a:br>
              <a:rPr lang="en-US"/>
            </a:br>
            <a:br>
              <a:rPr lang="en-US"/>
            </a:br>
            <a:r>
              <a:rPr lang="en-US"/>
              <a:t>추론 엔진은 저희가 직접 C++로 구현한 llm-lite입니다.</a:t>
            </a:r>
            <a:br>
              <a:rPr lang="en-US"/>
            </a:br>
            <a:br>
              <a:rPr lang="en-US"/>
            </a:br>
            <a:r>
              <a:rPr lang="en-US"/>
              <a:t>미리 말씀드리면 단일 모델, 단일 하드웨어 사례 연구이고, llama.cpp 비교는 후속 과제입니다.</a:t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967e60736_0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967e60736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967e60736_0_2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[3:50-4:20] 해석</a:t>
            </a:r>
            <a:br>
              <a:rPr lang="en-US"/>
            </a:br>
            <a:br>
              <a:rPr lang="en-US"/>
            </a:br>
            <a:r>
              <a:rPr lang="en-US"/>
              <a:t>본 실험 조건에서 FFN과 linear projection이 약 90%를 차지했고, attention은 1.6%였습니다.</a:t>
            </a:r>
            <a:br>
              <a:rPr lang="en-US"/>
            </a:br>
            <a:br>
              <a:rPr lang="en-US"/>
            </a:br>
            <a:r>
              <a:rPr lang="en-US"/>
              <a:t>다만 이건 입력이 약 30토큰인 조건이라, 긴 context에서는 attention과 KV-cache access 비중이 달라질 수 있습니다. 이 부분은 context sweep으로 최종 발표에서 확인할 예정입니다.</a:t>
            </a:r>
            <a:br>
              <a:rPr lang="en-US"/>
            </a:br>
            <a:br>
              <a:rPr lang="en-US"/>
            </a:br>
            <a:r>
              <a:rPr lang="en-US"/>
              <a:t>그러면 이 병목을 어떻게 줄일 수 있을까요?</a:t>
            </a:r>
            <a:br>
              <a:rPr lang="en-US"/>
            </a:br>
            <a:br>
              <a:rPr lang="en-US"/>
            </a:br>
            <a:r>
              <a:rPr lang="en-US"/>
              <a:t>[애니메이션 권장: "본 실험 조건에서는" 먼저 → "Attention이 병목이 아니었다" Appear → 90% Fade In → 1.6% Fade In]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[4:20-5:05] 가중치 양자화</a:t>
            </a:r>
            <a:br>
              <a:rPr lang="en-US"/>
            </a:br>
            <a:br>
              <a:rPr lang="en-US"/>
            </a:br>
            <a:r>
              <a:rPr lang="en-US"/>
              <a:t>첫 번째 방향은 가중치를 줄이는 겁니다.</a:t>
            </a:r>
            <a:br>
              <a:rPr lang="en-US"/>
            </a:br>
            <a:br>
              <a:rPr lang="en-US"/>
            </a:br>
            <a:r>
              <a:rPr lang="en-US"/>
              <a:t>AWQ가 대표적인 INT4 PTQ 기법입니다. 중요한 1%의 가중치를 보호하는 방식이에요.</a:t>
            </a:r>
            <a:br>
              <a:rPr lang="en-US"/>
            </a:br>
            <a:br>
              <a:rPr lang="en-US"/>
            </a:br>
            <a:r>
              <a:rPr lang="en-US"/>
              <a:t>(우측 막대를 가리키며) FP16이 100%일 때 INT4는 25%로 줄어들고, BitNet은 9.9%까지 줄어듭니다.</a:t>
            </a:r>
            <a:br>
              <a:rPr lang="en-US"/>
            </a:br>
            <a:br>
              <a:rPr lang="en-US"/>
            </a:br>
            <a:r>
              <a:rPr lang="en-US"/>
              <a:t>BitNet은 가중치를 {-1, 0, +1} 세 가지로 제한합니다. 곱셈이 덧셈과 뺄셈으로 바뀌는 거죠.</a:t>
            </a:r>
            <a:br>
              <a:rPr lang="en-US"/>
            </a:br>
            <a:br>
              <a:rPr lang="en-US"/>
            </a:br>
            <a:r>
              <a:rPr lang="en-US"/>
              <a:t>가중치가 작아지면 decode에서 DRAM 읽기 양이 직접적으로 줄어듭니다.</a:t>
            </a:r>
            <a:endParaRPr/>
          </a:p>
        </p:txBody>
      </p:sp>
      <p:sp>
        <p:nvSpPr>
          <p:cNvPr id="112" name="Google Shape;1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[5:05-6:20] KV-cache 압축 &amp; Post-Transformer</a:t>
            </a:r>
            <a:br>
              <a:rPr lang="en-US"/>
            </a:br>
            <a:br>
              <a:rPr lang="en-US"/>
            </a:br>
            <a:r>
              <a:rPr lang="en-US"/>
              <a:t>두 번째는 KV-cache를 줄이는 겁니다.</a:t>
            </a:r>
            <a:br>
              <a:rPr lang="en-US"/>
            </a:br>
            <a:br>
              <a:rPr lang="en-US"/>
            </a:br>
            <a:r>
              <a:rPr lang="en-US"/>
              <a:t>KIVI는 2-bit 양자화로 2.6배 절감했고, TurboQuant는 3.5비트에서 품질 저하가 거의 없다고 보고했습니다.</a:t>
            </a:r>
            <a:br>
              <a:rPr lang="en-US"/>
            </a:br>
            <a:br>
              <a:rPr lang="en-US"/>
            </a:br>
            <a:r>
              <a:rPr lang="en-US"/>
              <a:t>세 번째는 구조 자체를 바꾸는 겁니다.</a:t>
            </a:r>
            <a:br>
              <a:rPr lang="en-US"/>
            </a:br>
            <a:br>
              <a:rPr lang="en-US"/>
            </a:br>
            <a:r>
              <a:rPr lang="en-US"/>
              <a:t>(우측 다이어그램을 가리키며) 왼쪽이 Transformer입니다. 토큰이 늘어날수록 KV-cache 블록이 계속 쌓이죠. 오른쪽은 SSM/RWKV입니다. 고정 크기 state 하나만 업데이트합니다.</a:t>
            </a:r>
            <a:br>
              <a:rPr lang="en-US"/>
            </a:br>
            <a:br>
              <a:rPr lang="en-US"/>
            </a:br>
            <a:r>
              <a:rPr lang="en-US"/>
              <a:t>최근에는 이 둘을 혼합하는 하이브리드가 주류입니다.</a:t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967e60736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967e60736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[3:50-4:20] 해석</a:t>
            </a:r>
            <a:br>
              <a:rPr lang="en-US"/>
            </a:br>
            <a:br>
              <a:rPr lang="en-US"/>
            </a:br>
            <a:r>
              <a:rPr lang="en-US"/>
              <a:t>본 실험 조건에서 FFN과 linear projection이 약 90%를 차지했고, attention은 1.6%였습니다.</a:t>
            </a:r>
            <a:br>
              <a:rPr lang="en-US"/>
            </a:br>
            <a:br>
              <a:rPr lang="en-US"/>
            </a:br>
            <a:r>
              <a:rPr lang="en-US"/>
              <a:t>다만 이건 입력이 약 30토큰인 조건이라, 긴 context에서는 attention과 KV-cache access 비중이 달라질 수 있습니다. 이 부분은 context sweep으로 최종 발표에서 확인할 예정입니다.</a:t>
            </a:r>
            <a:br>
              <a:rPr lang="en-US"/>
            </a:br>
            <a:br>
              <a:rPr lang="en-US"/>
            </a:br>
            <a:r>
              <a:rPr lang="en-US"/>
              <a:t>그러면 이 병목을 어떻게 줄일 수 있을까요?</a:t>
            </a:r>
            <a:br>
              <a:rPr lang="en-US"/>
            </a:br>
            <a:br>
              <a:rPr lang="en-US"/>
            </a:br>
            <a:r>
              <a:rPr lang="en-US"/>
              <a:t>[애니메이션 권장: "본 실험 조건에서는" 먼저 → "Attention이 병목이 아니었다" Appear → 90% Fade In → 1.6% Fade In]</a:t>
            </a:r>
            <a:endParaRPr/>
          </a:p>
        </p:txBody>
      </p:sp>
      <p:sp>
        <p:nvSpPr>
          <p:cNvPr id="147" name="Google Shape;147;g3d967e60736_0_4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967e60736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d967e60736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[6:20-7:20] AlphaEvolve</a:t>
            </a:r>
            <a:br>
              <a:rPr lang="en-US"/>
            </a:br>
            <a:br>
              <a:rPr lang="en-US"/>
            </a:br>
            <a:r>
              <a:rPr lang="en-US"/>
              <a:t>AlphaEvolve는 최적화 탐색을 자동화한 사례입니다.</a:t>
            </a:r>
            <a:br>
              <a:rPr lang="en-US"/>
            </a:br>
            <a:br>
              <a:rPr lang="en-US"/>
            </a:br>
            <a:r>
              <a:rPr lang="en-US"/>
              <a:t>문제를 정의하면 LLM이 후보를 생성하고, 실행해서 평가하고, 좋은 걸 선택해서 변형하고, 반복합니다.</a:t>
            </a:r>
            <a:br>
              <a:rPr lang="en-US"/>
            </a:br>
            <a:br>
              <a:rPr lang="en-US"/>
            </a:br>
            <a:r>
              <a:rPr lang="en-US"/>
              <a:t>56년간 안 깨지던 Strassen을 개선했고, FlashAttention을 32.5% 가속했고, TPU Verilog까지 수정했습니다.</a:t>
            </a:r>
            <a:br>
              <a:rPr lang="en-US"/>
            </a:br>
            <a:br>
              <a:rPr lang="en-US"/>
            </a:br>
            <a:r>
              <a:rPr lang="en-US"/>
              <a:t>중요한 건 평가 함수가 있는 도메인에서만 작동합니다. 저희가 직접 적용한 건 아니고, NPU 최적화에 응용될 수 있다는 방향성을 제시한 것입니다.</a:t>
            </a:r>
            <a:endParaRPr/>
          </a:p>
        </p:txBody>
      </p:sp>
      <p:sp>
        <p:nvSpPr>
          <p:cNvPr id="155" name="Google Shape;155;g3d967e60736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967e60736_0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967e60736_0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[6:20-7:20] AlphaEvolve</a:t>
            </a:r>
            <a:br>
              <a:rPr lang="en-US"/>
            </a:br>
            <a:br>
              <a:rPr lang="en-US"/>
            </a:br>
            <a:r>
              <a:rPr lang="en-US"/>
              <a:t>AlphaEvolve는 최적화 탐색을 자동화한 사례입니다.</a:t>
            </a:r>
            <a:br>
              <a:rPr lang="en-US"/>
            </a:br>
            <a:br>
              <a:rPr lang="en-US"/>
            </a:br>
            <a:r>
              <a:rPr lang="en-US"/>
              <a:t>문제를 정의하면 LLM이 후보를 생성하고, 실행해서 평가하고, 좋은 걸 선택해서 변형하고, 반복합니다.</a:t>
            </a:r>
            <a:br>
              <a:rPr lang="en-US"/>
            </a:br>
            <a:br>
              <a:rPr lang="en-US"/>
            </a:br>
            <a:r>
              <a:rPr lang="en-US"/>
              <a:t>56년간 안 깨지던 Strassen을 개선했고, FlashAttention을 32.5% 가속했고, TPU Verilog까지 수정했습니다.</a:t>
            </a:r>
            <a:br>
              <a:rPr lang="en-US"/>
            </a:br>
            <a:br>
              <a:rPr lang="en-US"/>
            </a:br>
            <a:r>
              <a:rPr lang="en-US"/>
              <a:t>중요한 건 평가 함수가 있는 도메인에서만 작동합니다. 저희가 직접 적용한 건 아니고, NPU 최적화에 응용될 수 있다는 방향성을 제시한 것입니다.</a:t>
            </a:r>
            <a:endParaRPr/>
          </a:p>
        </p:txBody>
      </p:sp>
      <p:sp>
        <p:nvSpPr>
          <p:cNvPr id="164" name="Google Shape;164;g3d967e60736_0_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967e60736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d967e60736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[6:20-7:20] AlphaEvolve</a:t>
            </a:r>
            <a:br>
              <a:rPr lang="en-US"/>
            </a:br>
            <a:br>
              <a:rPr lang="en-US"/>
            </a:br>
            <a:r>
              <a:rPr lang="en-US"/>
              <a:t>AlphaEvolve는 최적화 탐색을 자동화한 사례입니다.</a:t>
            </a:r>
            <a:br>
              <a:rPr lang="en-US"/>
            </a:br>
            <a:br>
              <a:rPr lang="en-US"/>
            </a:br>
            <a:r>
              <a:rPr lang="en-US"/>
              <a:t>문제를 정의하면 LLM이 후보를 생성하고, 실행해서 평가하고, 좋은 걸 선택해서 변형하고, 반복합니다.</a:t>
            </a:r>
            <a:br>
              <a:rPr lang="en-US"/>
            </a:br>
            <a:br>
              <a:rPr lang="en-US"/>
            </a:br>
            <a:r>
              <a:rPr lang="en-US"/>
              <a:t>56년간 안 깨지던 Strassen을 개선했고, FlashAttention을 32.5% 가속했고, TPU Verilog까지 수정했습니다.</a:t>
            </a:r>
            <a:br>
              <a:rPr lang="en-US"/>
            </a:br>
            <a:br>
              <a:rPr lang="en-US"/>
            </a:br>
            <a:r>
              <a:rPr lang="en-US"/>
              <a:t>중요한 건 평가 함수가 있는 도메인에서만 작동합니다. 저희가 직접 적용한 건 아니고, NPU 최적화에 응용될 수 있다는 방향성을 제시한 것입니다.</a:t>
            </a:r>
            <a:endParaRPr/>
          </a:p>
        </p:txBody>
      </p:sp>
      <p:sp>
        <p:nvSpPr>
          <p:cNvPr id="175" name="Google Shape;175;g3d967e60736_0_3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967e60736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967e60736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[6:20-7:20] AlphaEvolve</a:t>
            </a:r>
            <a:br>
              <a:rPr lang="en-US"/>
            </a:br>
            <a:br>
              <a:rPr lang="en-US"/>
            </a:br>
            <a:r>
              <a:rPr lang="en-US"/>
              <a:t>AlphaEvolve는 최적화 탐색을 자동화한 사례입니다.</a:t>
            </a:r>
            <a:br>
              <a:rPr lang="en-US"/>
            </a:br>
            <a:br>
              <a:rPr lang="en-US"/>
            </a:br>
            <a:r>
              <a:rPr lang="en-US"/>
              <a:t>문제를 정의하면 LLM이 후보를 생성하고, 실행해서 평가하고, 좋은 걸 선택해서 변형하고, 반복합니다.</a:t>
            </a:r>
            <a:br>
              <a:rPr lang="en-US"/>
            </a:br>
            <a:br>
              <a:rPr lang="en-US"/>
            </a:br>
            <a:r>
              <a:rPr lang="en-US"/>
              <a:t>56년간 안 깨지던 Strassen을 개선했고, FlashAttention을 32.5% 가속했고, TPU Verilog까지 수정했습니다.</a:t>
            </a:r>
            <a:br>
              <a:rPr lang="en-US"/>
            </a:br>
            <a:br>
              <a:rPr lang="en-US"/>
            </a:br>
            <a:r>
              <a:rPr lang="en-US"/>
              <a:t>중요한 건 평가 함수가 있는 도메인에서만 작동합니다. 저희가 직접 적용한 건 아니고, NPU 최적화에 응용될 수 있다는 방향성을 제시한 것입니다.</a:t>
            </a:r>
            <a:endParaRPr/>
          </a:p>
        </p:txBody>
      </p:sp>
      <p:sp>
        <p:nvSpPr>
          <p:cNvPr id="187" name="Google Shape;187;g3d967e60736_0_3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967e60736_0_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967e60736_0_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[6:20-7:20] AlphaEvolve</a:t>
            </a:r>
            <a:br>
              <a:rPr lang="en-US"/>
            </a:br>
            <a:br>
              <a:rPr lang="en-US"/>
            </a:br>
            <a:r>
              <a:rPr lang="en-US"/>
              <a:t>AlphaEvolve는 최적화 탐색을 자동화한 사례입니다.</a:t>
            </a:r>
            <a:br>
              <a:rPr lang="en-US"/>
            </a:br>
            <a:br>
              <a:rPr lang="en-US"/>
            </a:br>
            <a:r>
              <a:rPr lang="en-US"/>
              <a:t>문제를 정의하면 LLM이 후보를 생성하고, 실행해서 평가하고, 좋은 걸 선택해서 변형하고, 반복합니다.</a:t>
            </a:r>
            <a:br>
              <a:rPr lang="en-US"/>
            </a:br>
            <a:br>
              <a:rPr lang="en-US"/>
            </a:br>
            <a:r>
              <a:rPr lang="en-US"/>
              <a:t>56년간 안 깨지던 Strassen을 개선했고, FlashAttention을 32.5% 가속했고, TPU Verilog까지 수정했습니다.</a:t>
            </a:r>
            <a:br>
              <a:rPr lang="en-US"/>
            </a:br>
            <a:br>
              <a:rPr lang="en-US"/>
            </a:br>
            <a:r>
              <a:rPr lang="en-US"/>
              <a:t>중요한 건 평가 함수가 있는 도메인에서만 작동합니다. 저희가 직접 적용한 건 아니고, NPU 최적화에 응용될 수 있다는 방향성을 제시한 것입니다.</a:t>
            </a:r>
            <a:endParaRPr/>
          </a:p>
        </p:txBody>
      </p:sp>
      <p:sp>
        <p:nvSpPr>
          <p:cNvPr id="198" name="Google Shape;198;g3d967e60736_0_3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[6:20-7:20] AlphaEvolve</a:t>
            </a:r>
            <a:br>
              <a:rPr lang="en-US"/>
            </a:br>
            <a:br>
              <a:rPr lang="en-US"/>
            </a:br>
            <a:r>
              <a:rPr lang="en-US"/>
              <a:t>AlphaEvolve는 최적화 탐색을 자동화한 사례입니다.</a:t>
            </a:r>
            <a:br>
              <a:rPr lang="en-US"/>
            </a:br>
            <a:br>
              <a:rPr lang="en-US"/>
            </a:br>
            <a:r>
              <a:rPr lang="en-US"/>
              <a:t>문제를 정의하면 LLM이 후보를 생성하고, 실행해서 평가하고, 좋은 걸 선택해서 변형하고, 반복합니다.</a:t>
            </a:r>
            <a:br>
              <a:rPr lang="en-US"/>
            </a:br>
            <a:br>
              <a:rPr lang="en-US"/>
            </a:br>
            <a:r>
              <a:rPr lang="en-US"/>
              <a:t>56년간 안 깨지던 Strassen을 개선했고, FlashAttention을 32.5% 가속했고, TPU Verilog까지 수정했습니다.</a:t>
            </a:r>
            <a:br>
              <a:rPr lang="en-US"/>
            </a:br>
            <a:br>
              <a:rPr lang="en-US"/>
            </a:br>
            <a:r>
              <a:rPr lang="en-US"/>
              <a:t>중요한 건 평가 함수가 있는 도메인에서만 작동합니다. 저희가 직접 적용한 건 아니고, NPU 최적화에 응용될 수 있다는 방향성을 제시한 것입니다.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[9:10-9:40] 결론</a:t>
            </a:r>
            <a:br>
              <a:rPr lang="en-US"/>
            </a:br>
            <a:br>
              <a:rPr lang="en-US"/>
            </a:br>
            <a:r>
              <a:rPr lang="en-US"/>
              <a:t>온디바이스 SLM의 병목은 "모델이 크다"가 아닙니다. Decode에서 매 토큰마다 반복되는 memory access입니다.</a:t>
            </a:r>
            <a:br>
              <a:rPr lang="en-US"/>
            </a:br>
            <a:br>
              <a:rPr lang="en-US"/>
            </a:br>
            <a:r>
              <a:rPr lang="en-US"/>
              <a:t>최적화는 가중치, KV-cache, 메모리, 스케줄링을 함께 다루는 시스템 문제입니다.</a:t>
            </a:r>
            <a:br>
              <a:rPr lang="en-US"/>
            </a:br>
            <a:br>
              <a:rPr lang="en-US"/>
            </a:br>
            <a:r>
              <a:rPr lang="en-US"/>
              <a:t>감사합니다.</a:t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[9:40-10:00] Q&amp;A</a:t>
            </a:r>
            <a:br>
              <a:rPr lang="en-US"/>
            </a:br>
            <a:br>
              <a:rPr lang="en-US"/>
            </a:br>
            <a:r>
              <a:rPr lang="en-US"/>
              <a:t>[예상 질문 &amp; 답변]</a:t>
            </a:r>
            <a:br>
              <a:rPr lang="en-US"/>
            </a:br>
            <a:br>
              <a:rPr lang="en-US"/>
            </a:br>
            <a:r>
              <a:rPr lang="en-US"/>
              <a:t>Q: "입력이 30토큰이면 attention이 작은 게 당연하지 않나?"</a:t>
            </a:r>
            <a:br>
              <a:rPr lang="en-US"/>
            </a:br>
            <a:r>
              <a:rPr lang="en-US"/>
              <a:t>→ 맞습니다. 그래서 "본 실험 조건에서는"이라고 한정했습니다. Context sweep으로 최종 발표에서 확인할 예정입니다.</a:t>
            </a:r>
            <a:br>
              <a:rPr lang="en-US"/>
            </a:br>
            <a:br>
              <a:rPr lang="en-US"/>
            </a:br>
            <a:r>
              <a:rPr lang="en-US"/>
              <a:t>Q: "FFN 72% 비율이 구현과 무관한가?"</a:t>
            </a:r>
            <a:br>
              <a:rPr lang="en-US"/>
            </a:br>
            <a:r>
              <a:rPr lang="en-US"/>
              <a:t>→ 절대 비율은 구현에 영향받을 수 있습니다. 다만 GEMV가 memory-bound가 되기 쉽다는 구조적 경향을 보여준다고 해석했습니다.</a:t>
            </a:r>
            <a:br>
              <a:rPr lang="en-US"/>
            </a:br>
            <a:br>
              <a:rPr lang="en-US"/>
            </a:br>
            <a:r>
              <a:rPr lang="en-US"/>
              <a:t>Q: "0.75 tok/s가 느린 건 구현 미숙인가?"</a:t>
            </a:r>
            <a:br>
              <a:rPr lang="en-US"/>
            </a:br>
            <a:r>
              <a:rPr lang="en-US"/>
              <a:t>→ 둘 다 가능합니다. llama.cpp 비교로 확인해야 하며 최종 발표에 포함 예정입니다.</a:t>
            </a:r>
            <a:br>
              <a:rPr lang="en-US"/>
            </a:br>
            <a:br>
              <a:rPr lang="en-US"/>
            </a:br>
            <a:r>
              <a:rPr lang="en-US"/>
              <a:t>Q: "AlphaEvolve를 직접 써봤나?"</a:t>
            </a:r>
            <a:br>
              <a:rPr lang="en-US"/>
            </a:br>
            <a:r>
              <a:rPr lang="en-US"/>
              <a:t>→ 아닙니다. 보고된 성과 기반으로 가능성을 논의한 것입니다.</a:t>
            </a:r>
            <a:br>
              <a:rPr lang="en-US"/>
            </a:br>
            <a:br>
              <a:rPr lang="en-US"/>
            </a:br>
            <a:r>
              <a:rPr lang="en-US"/>
              <a:t>Q: "FFN이 병목이면 attention 대체보다 FFN 최적화 아닌가?"</a:t>
            </a:r>
            <a:br>
              <a:rPr lang="en-US"/>
            </a:br>
            <a:r>
              <a:rPr lang="en-US"/>
              <a:t>→ 맞습니다. FFN 양자화와 sparse execution이 직접적 해법입니다. Post-Transformer는 KV-cache 무한 증가라는 다른 축의 문제를 해결합니다.</a:t>
            </a:r>
            <a:endParaRPr/>
          </a:p>
        </p:txBody>
      </p:sp>
      <p:sp>
        <p:nvSpPr>
          <p:cNvPr id="251" name="Google Shape;2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5" y="914400"/>
            <a:ext cx="8138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1D1D1F"/>
                </a:solidFill>
              </a:rPr>
              <a:t>Transformer 의 한계 및 연구동향 분석을 통한</a:t>
            </a:r>
            <a:endParaRPr b="1" sz="3200">
              <a:solidFill>
                <a:srgbClr val="1D1D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400"/>
              <a:buFont typeface="Arial"/>
              <a:buNone/>
            </a:pPr>
            <a:r>
              <a:rPr b="1" lang="en-US" sz="3200">
                <a:solidFill>
                  <a:srgbClr val="3B82F6"/>
                </a:solidFill>
              </a:rPr>
              <a:t>Post-Transformer</a:t>
            </a:r>
            <a:r>
              <a:rPr b="1" lang="en-US" sz="3200">
                <a:solidFill>
                  <a:srgbClr val="1D1D1F"/>
                </a:solidFill>
              </a:rPr>
              <a:t> 발전 방향 제언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Gemma 3N E4B 실측 기반 Decode 병목 분석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김현우 · 김민솔 · 김진희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삼육대학교 인공지능융합학부  |  2026.04  |  중간발표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57650" y="113825"/>
            <a:ext cx="25842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4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주제 선정 이유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75450" y="1952425"/>
            <a:ext cx="2366400" cy="8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1E3"/>
                </a:solidFill>
              </a:rPr>
              <a:t>MLP</a:t>
            </a:r>
            <a:endParaRPr sz="3500">
              <a:solidFill>
                <a:srgbClr val="0071E3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388800" y="1952425"/>
            <a:ext cx="2366400" cy="8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1E3"/>
                </a:solidFill>
              </a:rPr>
              <a:t>CNN</a:t>
            </a:r>
            <a:endParaRPr sz="3500">
              <a:solidFill>
                <a:srgbClr val="0071E3"/>
              </a:solidFill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2150" y="1952425"/>
            <a:ext cx="2366400" cy="8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1E3"/>
                </a:solidFill>
              </a:rPr>
              <a:t>Attention</a:t>
            </a:r>
            <a:endParaRPr sz="3500">
              <a:solidFill>
                <a:srgbClr val="0071E3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18750" y="3644301"/>
            <a:ext cx="2349600" cy="443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</a:rPr>
              <a:t>transformer</a:t>
            </a:r>
            <a:endParaRPr sz="3200">
              <a:solidFill>
                <a:schemeClr val="accent2"/>
              </a:solidFill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92725" y="2179125"/>
            <a:ext cx="556500" cy="39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8820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800425" y="2179125"/>
            <a:ext cx="556500" cy="39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8820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3" name="Google Shape;33;p4"/>
          <p:cNvSpPr/>
          <p:nvPr/>
        </p:nvSpPr>
        <p:spPr>
          <a:xfrm rot="5400000">
            <a:off x="7315300" y="2952348"/>
            <a:ext cx="556500" cy="39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8820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57650" y="113825"/>
            <a:ext cx="25842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4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주제 선정 이유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279900" y="2168900"/>
            <a:ext cx="2584200" cy="8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071E3"/>
                </a:solidFill>
              </a:rPr>
              <a:t>T</a:t>
            </a:r>
            <a:r>
              <a:rPr lang="en-US" sz="3300">
                <a:solidFill>
                  <a:srgbClr val="0071E3"/>
                </a:solidFill>
              </a:rPr>
              <a:t>ransformer</a:t>
            </a:r>
            <a:endParaRPr sz="3300">
              <a:solidFill>
                <a:srgbClr val="0071E3"/>
              </a:solidFill>
            </a:endParaRPr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071" y="1141105"/>
            <a:ext cx="994969" cy="99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0429" y="3403409"/>
            <a:ext cx="936253" cy="936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7022" y="3258301"/>
            <a:ext cx="1226465" cy="122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0107" y="1068425"/>
            <a:ext cx="1140328" cy="1140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31520" y="118872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병목은 어디인가?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Attention 연산?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572000" y="24688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8820C"/>
                </a:solidFill>
                <a:latin typeface="Arial"/>
                <a:ea typeface="Arial"/>
                <a:cs typeface="Arial"/>
                <a:sym typeface="Arial"/>
              </a:rPr>
              <a:t>Memory Access?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31520" y="3657600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직접 측정해서 확인했습니다.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실험 환경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731520" y="10058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모델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2194560" y="1005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Gemma 3N E4B  (GQA 4:1, 35 layers)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7"/>
          <p:cNvCxnSpPr/>
          <p:nvPr/>
        </p:nvCxnSpPr>
        <p:spPr>
          <a:xfrm>
            <a:off x="731520" y="1536192"/>
            <a:ext cx="7863840" cy="0"/>
          </a:xfrm>
          <a:prstGeom prst="straightConnector1">
            <a:avLst/>
          </a:prstGeom>
          <a:noFill/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7"/>
          <p:cNvSpPr/>
          <p:nvPr/>
        </p:nvSpPr>
        <p:spPr>
          <a:xfrm>
            <a:off x="731520" y="16459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양자화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2194560" y="16459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W4A32  (가중치 INT4, 활성화 FP32)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7"/>
          <p:cNvCxnSpPr/>
          <p:nvPr/>
        </p:nvCxnSpPr>
        <p:spPr>
          <a:xfrm>
            <a:off x="731520" y="2176272"/>
            <a:ext cx="7863840" cy="0"/>
          </a:xfrm>
          <a:prstGeom prst="straightConnector1">
            <a:avLst/>
          </a:prstGeom>
          <a:noFill/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7"/>
          <p:cNvSpPr/>
          <p:nvPr/>
        </p:nvSpPr>
        <p:spPr>
          <a:xfrm>
            <a:off x="731520" y="22860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HW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194560" y="2286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AMD Ryzen 5 4500U + 16GB LPDDR4X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731520" y="2816352"/>
            <a:ext cx="7863840" cy="0"/>
          </a:xfrm>
          <a:prstGeom prst="straightConnector1">
            <a:avLst/>
          </a:prstGeom>
          <a:noFill/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7"/>
          <p:cNvSpPr/>
          <p:nvPr/>
        </p:nvSpPr>
        <p:spPr>
          <a:xfrm>
            <a:off x="731520" y="29260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엔진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194560" y="29260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llm-lite  (자체 C++/Vulkan 구현)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7"/>
          <p:cNvCxnSpPr/>
          <p:nvPr/>
        </p:nvCxnSpPr>
        <p:spPr>
          <a:xfrm>
            <a:off x="731520" y="3456432"/>
            <a:ext cx="7863840" cy="0"/>
          </a:xfrm>
          <a:prstGeom prst="straightConnector1">
            <a:avLst/>
          </a:prstGeom>
          <a:noFill/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7"/>
          <p:cNvSpPr/>
          <p:nvPr/>
        </p:nvSpPr>
        <p:spPr>
          <a:xfrm>
            <a:off x="731520" y="356616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측정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219456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Input ~30 tok → Output 88 tok,  warm-up 후 1회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한계:  단일 모델 · 단일 HW 사례 연구  |  baseline 비교는 후속 과제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499810" y="1387600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Noto Sans"/>
              <a:buNone/>
            </a:pPr>
            <a:r>
              <a:rPr b="1"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FFN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917130" y="1314448"/>
            <a:ext cx="5605200" cy="411600"/>
          </a:xfrm>
          <a:prstGeom prst="rect">
            <a:avLst/>
          </a:prstGeom>
          <a:solidFill>
            <a:srgbClr val="59A7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863912" y="1430762"/>
            <a:ext cx="64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Noto Sans"/>
              <a:buNone/>
            </a:pPr>
            <a:r>
              <a:rPr b="1" lang="en-US" sz="13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72.4%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99810" y="2045968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Noto Sans"/>
              <a:buNone/>
            </a:pPr>
            <a:r>
              <a:rPr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QKV proj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917130" y="1972816"/>
            <a:ext cx="758700" cy="411600"/>
          </a:xfrm>
          <a:prstGeom prst="rect">
            <a:avLst/>
          </a:prstGeom>
          <a:solidFill>
            <a:srgbClr val="4DE1D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2767278" y="2089130"/>
            <a:ext cx="64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Noto Sans"/>
              <a:buNone/>
            </a:pPr>
            <a:r>
              <a:rPr b="1" lang="en-US" sz="13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9.8%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499810" y="2704336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Noto Sans"/>
              <a:buNone/>
            </a:pPr>
            <a:r>
              <a:rPr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O-proj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917130" y="2631184"/>
            <a:ext cx="627000" cy="411600"/>
          </a:xfrm>
          <a:prstGeom prst="rect">
            <a:avLst/>
          </a:prstGeom>
          <a:solidFill>
            <a:srgbClr val="75E09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2635666" y="2747498"/>
            <a:ext cx="64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Noto Sans"/>
              <a:buNone/>
            </a:pPr>
            <a:r>
              <a:rPr b="1" lang="en-US" sz="13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8.1%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99810" y="3362704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Noto Sans"/>
              <a:buNone/>
            </a:pPr>
            <a:r>
              <a:rPr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PLE+Others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917130" y="3289552"/>
            <a:ext cx="627000" cy="411600"/>
          </a:xfrm>
          <a:prstGeom prst="rect">
            <a:avLst/>
          </a:prstGeom>
          <a:solidFill>
            <a:srgbClr val="C5A3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2635666" y="3405866"/>
            <a:ext cx="64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Noto Sans"/>
              <a:buNone/>
            </a:pPr>
            <a:r>
              <a:rPr b="1" lang="en-US" sz="13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8.1%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99810" y="4021072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Noto Sans"/>
              <a:buNone/>
            </a:pPr>
            <a:r>
              <a:rPr b="1"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Attention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917130" y="3947920"/>
            <a:ext cx="123900" cy="41160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132441" y="4064234"/>
            <a:ext cx="64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Noto Sans"/>
              <a:buNone/>
            </a:pPr>
            <a:r>
              <a:rPr b="1" lang="en-US" sz="13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1.6%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731520" y="2286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실험 </a:t>
            </a:r>
            <a:r>
              <a:rPr b="1" lang="en-US" sz="2800">
                <a:solidFill>
                  <a:srgbClr val="1D1D1F"/>
                </a:solidFill>
              </a:rPr>
              <a:t>결과: bottleneck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1D1D1F"/>
                </a:solidFill>
              </a:rPr>
              <a:t>SLM에서 </a:t>
            </a:r>
            <a:r>
              <a:rPr b="1" i="0" lang="en-US" sz="4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Attention이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병목이 아니었다.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FFN + Linear Projection = 90%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Attention = 1.6%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병목 완화 ①  </a:t>
            </a:r>
            <a:r>
              <a:rPr b="1" lang="en-US" sz="2800">
                <a:solidFill>
                  <a:srgbClr val="1D1D1F"/>
                </a:solidFill>
              </a:rPr>
              <a:t>양자화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731520" y="777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Weight Quantization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731520" y="13716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AWQ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31520" y="1828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salient 1% weight 보호 → 대표적인 INT4 PTQ 기법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31520" y="25603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BitNet b1.58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가중치 = {-1, 0, +1}  →  곱셈 → 덧셈/뺄셈으로 단순화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5394950" y="1280150"/>
            <a:ext cx="83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FP16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5865674" y="1307582"/>
            <a:ext cx="2416500" cy="274200"/>
          </a:xfrm>
          <a:prstGeom prst="roundRect">
            <a:avLst>
              <a:gd fmla="val 13333" name="adj"/>
            </a:avLst>
          </a:prstGeom>
          <a:solidFill>
            <a:srgbClr val="8686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8357617" y="1280150"/>
            <a:ext cx="45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5394950" y="1965952"/>
            <a:ext cx="83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INT4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865674" y="1993384"/>
            <a:ext cx="604200" cy="274200"/>
          </a:xfrm>
          <a:prstGeom prst="roundRect">
            <a:avLst>
              <a:gd fmla="val 13333" name="adj"/>
            </a:avLst>
          </a:pr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6545295" y="1965952"/>
            <a:ext cx="45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5394950" y="2651754"/>
            <a:ext cx="83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1.58b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865674" y="2679186"/>
            <a:ext cx="241500" cy="274200"/>
          </a:xfrm>
          <a:prstGeom prst="roundRect">
            <a:avLst>
              <a:gd fmla="val 13333" name="adj"/>
            </a:avLst>
          </a:prstGeom>
          <a:solidFill>
            <a:srgbClr val="E882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6182831" y="2651754"/>
            <a:ext cx="45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9.9%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0"/>
          <p:cNvCxnSpPr/>
          <p:nvPr/>
        </p:nvCxnSpPr>
        <p:spPr>
          <a:xfrm>
            <a:off x="5394950" y="3291822"/>
            <a:ext cx="3415800" cy="0"/>
          </a:xfrm>
          <a:prstGeom prst="straightConnector1">
            <a:avLst/>
          </a:prstGeom>
          <a:noFill/>
          <a:ln cap="flat" cmpd="sng" w="123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0"/>
          <p:cNvSpPr/>
          <p:nvPr/>
        </p:nvSpPr>
        <p:spPr>
          <a:xfrm>
            <a:off x="5394950" y="3409998"/>
            <a:ext cx="3415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22"/>
              <a:buFont typeface="Consolas"/>
              <a:buNone/>
            </a:pPr>
            <a:r>
              <a:rPr b="0" i="0" lang="en-US" sz="1422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+1→add  -1→sub  0→skip</a:t>
            </a:r>
            <a:endParaRPr b="0" i="0" sz="1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가중치가 작아지면 매 토큰마다 DRAM에서 읽는 양이 줄어든다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병목 완화 ②③  KV-cache 압축 &amp; 구조 변경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KV-cache 압축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731520" y="137160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KIVI — 비대칭 2-bit → 2.6x 절감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TurboQuant — 3.5 bits, 품질 저하 거의 없음 보고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1"/>
          <p:cNvCxnSpPr/>
          <p:nvPr/>
        </p:nvCxnSpPr>
        <p:spPr>
          <a:xfrm>
            <a:off x="731520" y="2377440"/>
            <a:ext cx="7863900" cy="0"/>
          </a:xfrm>
          <a:prstGeom prst="straightConnector1">
            <a:avLst/>
          </a:prstGeom>
          <a:noFill/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1"/>
          <p:cNvSpPr/>
          <p:nvPr/>
        </p:nvSpPr>
        <p:spPr>
          <a:xfrm>
            <a:off x="731520" y="420624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공통 목표: memory traffic 최소화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/>
          <p:nvPr/>
        </p:nvSpPr>
        <p:spPr>
          <a:xfrm>
            <a:off x="731520" y="1463040"/>
            <a:ext cx="7680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1D1D1F"/>
                </a:solidFill>
              </a:rPr>
              <a:t>근본적 원인 해결이 아니다.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731525" y="2743150"/>
            <a:ext cx="7680900" cy="13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1E3"/>
                </a:solidFill>
              </a:rPr>
              <a:t>Post - Transformer ?</a:t>
            </a:r>
            <a:endParaRPr b="1" sz="2400">
              <a:solidFill>
                <a:srgbClr val="0071E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400"/>
              <a:buFont typeface="Arial"/>
              <a:buNone/>
            </a:pPr>
            <a:r>
              <a:t/>
            </a:r>
            <a:endParaRPr b="1" sz="1500">
              <a:solidFill>
                <a:srgbClr val="0071E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1E3"/>
                </a:solidFill>
              </a:rPr>
              <a:t>인간의 개입 없이 학습하고 개선하는 방법론</a:t>
            </a:r>
            <a:endParaRPr b="1" sz="2400">
              <a:solidFill>
                <a:srgbClr val="0071E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/>
          <p:nvPr/>
        </p:nvSpPr>
        <p:spPr>
          <a:xfrm>
            <a:off x="731520" y="2286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AlphaEvolve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731520" y="777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평가 가능한 최적화 문제의 자동 탐색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3"/>
          <p:cNvPicPr preferRelativeResize="0"/>
          <p:nvPr/>
        </p:nvPicPr>
        <p:blipFill rotWithShape="1">
          <a:blip r:embed="rId3">
            <a:alphaModFix/>
          </a:blip>
          <a:srcRect b="5294" l="13051" r="0" t="0"/>
          <a:stretch/>
        </p:blipFill>
        <p:spPr>
          <a:xfrm>
            <a:off x="731525" y="1203850"/>
            <a:ext cx="3595135" cy="355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731520" y="2286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AlphaEvolve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731520" y="777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평가 가능한 최적화 문제의 자동 탐색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5294" l="13051" r="0" t="0"/>
          <a:stretch/>
        </p:blipFill>
        <p:spPr>
          <a:xfrm>
            <a:off x="731525" y="1203850"/>
            <a:ext cx="3595135" cy="3551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/>
          <p:nvPr/>
        </p:nvSpPr>
        <p:spPr>
          <a:xfrm>
            <a:off x="2619350" y="1284175"/>
            <a:ext cx="1938900" cy="348600"/>
          </a:xfrm>
          <a:prstGeom prst="leftArrow">
            <a:avLst>
              <a:gd fmla="val 33363" name="adj1"/>
              <a:gd fmla="val 71775" name="adj2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4558250" y="892950"/>
            <a:ext cx="4303200" cy="2100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 (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 = 0; R &lt; ROW; R++){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C = 0; C &lt; COL; C++){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‘task…’</a:t>
            </a:r>
            <a:b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731520" y="2286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AlphaEvolve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4736825" y="777300"/>
            <a:ext cx="4303200" cy="2100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71E3"/>
                </a:solidFill>
                <a:latin typeface="Courier New"/>
                <a:ea typeface="Courier New"/>
                <a:cs typeface="Courier New"/>
                <a:sym typeface="Courier New"/>
              </a:rPr>
              <a:t>Original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R = 0; R &lt; ROW; R++){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C = 0; C &lt; COL; C++){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‘task…’</a:t>
            </a:r>
            <a:b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178450" y="777300"/>
            <a:ext cx="4405500" cy="2100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71E3"/>
                </a:solidFill>
                <a:latin typeface="Courier New"/>
                <a:ea typeface="Courier New"/>
                <a:cs typeface="Courier New"/>
                <a:sym typeface="Courier New"/>
              </a:rPr>
              <a:t>Reversed</a:t>
            </a:r>
            <a:endParaRPr b="1" sz="1500">
              <a:solidFill>
                <a:srgbClr val="0071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R=</a:t>
            </a:r>
            <a:r>
              <a:rPr b="1" lang="en-US" sz="1500">
                <a:solidFill>
                  <a:schemeClr val="dk1"/>
                </a:solidFill>
                <a:highlight>
                  <a:srgbClr val="E6B8AF"/>
                </a:highlight>
                <a:latin typeface="Courier New"/>
                <a:ea typeface="Courier New"/>
                <a:cs typeface="Courier New"/>
                <a:sym typeface="Courier New"/>
              </a:rPr>
              <a:t>ROW-1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R </a:t>
            </a:r>
            <a:r>
              <a:rPr b="1" lang="en-US" sz="1500">
                <a:solidFill>
                  <a:schemeClr val="dk1"/>
                </a:solidFill>
                <a:highlight>
                  <a:srgbClr val="E6B8A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=0; R</a:t>
            </a:r>
            <a:r>
              <a:rPr b="1" lang="en-US" sz="1500">
                <a:solidFill>
                  <a:schemeClr val="dk1"/>
                </a:solidFill>
                <a:highlight>
                  <a:srgbClr val="E6B8AF"/>
                </a:highlight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C=</a:t>
            </a:r>
            <a:r>
              <a:rPr b="1" lang="en-US" sz="1500">
                <a:solidFill>
                  <a:schemeClr val="dk1"/>
                </a:solidFill>
                <a:highlight>
                  <a:srgbClr val="E6B8AF"/>
                </a:highlight>
                <a:latin typeface="Courier New"/>
                <a:ea typeface="Courier New"/>
                <a:cs typeface="Courier New"/>
                <a:sym typeface="Courier New"/>
              </a:rPr>
              <a:t>COL-1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C </a:t>
            </a:r>
            <a:r>
              <a:rPr b="1" lang="en-US" sz="1500">
                <a:solidFill>
                  <a:schemeClr val="dk1"/>
                </a:solidFill>
                <a:highlight>
                  <a:srgbClr val="E6B8A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=0; C</a:t>
            </a:r>
            <a:r>
              <a:rPr b="1" lang="en-US" sz="1500">
                <a:solidFill>
                  <a:schemeClr val="dk1"/>
                </a:solidFill>
                <a:highlight>
                  <a:srgbClr val="E6B8AF"/>
                </a:highlight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‘task…’</a:t>
            </a:r>
            <a:b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178450" y="2927250"/>
            <a:ext cx="4405500" cy="2100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71E3"/>
                </a:solidFill>
                <a:latin typeface="Courier New"/>
                <a:ea typeface="Courier New"/>
                <a:cs typeface="Courier New"/>
                <a:sym typeface="Courier New"/>
              </a:rPr>
              <a:t>C++ &amp; R++ -&gt; ++R &amp; ++C</a:t>
            </a:r>
            <a:endParaRPr b="1" sz="1500">
              <a:solidFill>
                <a:srgbClr val="0071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R = 0; R &lt; ROW; </a:t>
            </a:r>
            <a:r>
              <a:rPr b="1" lang="en-US" sz="1500">
                <a:solidFill>
                  <a:schemeClr val="dk1"/>
                </a:solidFill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C = 0; C &lt; COL; </a:t>
            </a:r>
            <a:r>
              <a:rPr b="1" lang="en-US" sz="1500">
                <a:solidFill>
                  <a:schemeClr val="dk1"/>
                </a:solidFill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‘task…’</a:t>
            </a:r>
            <a:b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4736825" y="2927250"/>
            <a:ext cx="4303200" cy="2100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71E3"/>
                </a:solidFill>
                <a:latin typeface="Courier New"/>
                <a:ea typeface="Courier New"/>
                <a:cs typeface="Courier New"/>
                <a:sym typeface="Courier New"/>
              </a:rPr>
              <a:t>C++ -&gt; ++C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R = 0; R &lt; ROW; R++){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C = 0; C &lt; COL; </a:t>
            </a:r>
            <a:r>
              <a:rPr b="1" lang="en-US" sz="1500">
                <a:solidFill>
                  <a:schemeClr val="dk1"/>
                </a:solidFill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‘task…’</a:t>
            </a:r>
            <a:b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/>
          <p:nvPr/>
        </p:nvSpPr>
        <p:spPr>
          <a:xfrm>
            <a:off x="731520" y="2286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AlphaEvolve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900">
                <a:solidFill>
                  <a:srgbClr val="D2D2D7"/>
                </a:solidFill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731520" y="777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평가 가능한 최적화 문제의 자동 탐색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3840"/>
            <a:ext cx="3653592" cy="37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2151625" y="2431475"/>
            <a:ext cx="1938900" cy="348600"/>
          </a:xfrm>
          <a:prstGeom prst="leftArrow">
            <a:avLst>
              <a:gd fmla="val 33363" name="adj1"/>
              <a:gd fmla="val 71775" name="adj2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4035850" y="1521450"/>
            <a:ext cx="4303200" cy="2100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R = 0; R &lt; ROW; R++){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C = 0; C &lt; COL; C++){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‘task…’</a:t>
            </a:r>
            <a:b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>
            <a:off x="731520" y="22860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AlphaEvolve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731520" y="777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평가 가능한 최적화 문제의 자동 탐색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331675" y="1190650"/>
            <a:ext cx="8529900" cy="3776100"/>
          </a:xfrm>
          <a:prstGeom prst="roundRect">
            <a:avLst>
              <a:gd fmla="val 1000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Foundry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515675" y="1237650"/>
            <a:ext cx="8238600" cy="3221700"/>
          </a:xfrm>
          <a:prstGeom prst="roundRect">
            <a:avLst>
              <a:gd fmla="val 1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FC5E8"/>
                </a:solidFill>
              </a:rPr>
              <a:t>HW (NPU = TPU)</a:t>
            </a:r>
            <a:endParaRPr b="1" sz="1500">
              <a:solidFill>
                <a:srgbClr val="9FC5E8"/>
              </a:solidFill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91625" y="1274050"/>
            <a:ext cx="7953600" cy="2653500"/>
          </a:xfrm>
          <a:prstGeom prst="roundRect">
            <a:avLst>
              <a:gd fmla="val 10000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EAD3"/>
                </a:solidFill>
              </a:rPr>
              <a:t>SW (Algorithm)</a:t>
            </a:r>
            <a:endParaRPr b="1" sz="1500">
              <a:solidFill>
                <a:srgbClr val="D9EAD3"/>
              </a:solidFill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861425" y="1334725"/>
            <a:ext cx="7614000" cy="2101200"/>
          </a:xfrm>
          <a:prstGeom prst="roundRect">
            <a:avLst>
              <a:gd fmla="val 10000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06666"/>
                </a:solidFill>
              </a:rPr>
              <a:t>AI - Model</a:t>
            </a:r>
            <a:endParaRPr b="1" sz="1500">
              <a:solidFill>
                <a:srgbClr val="E06666"/>
              </a:solidFill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1044825" y="1377725"/>
            <a:ext cx="7315200" cy="1597200"/>
          </a:xfrm>
          <a:prstGeom prst="roundRect">
            <a:avLst>
              <a:gd fmla="val 1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1E3"/>
                </a:solidFill>
              </a:rPr>
              <a:t>Alpha Evolve</a:t>
            </a:r>
            <a:endParaRPr b="1" sz="1800">
              <a:solidFill>
                <a:srgbClr val="0071E3"/>
              </a:solidFill>
            </a:endParaRPr>
          </a:p>
        </p:txBody>
      </p:sp>
      <p:sp>
        <p:nvSpPr>
          <p:cNvPr id="207" name="Google Shape;207;p17"/>
          <p:cNvSpPr/>
          <p:nvPr/>
        </p:nvSpPr>
        <p:spPr>
          <a:xfrm rot="5400000">
            <a:off x="5400325" y="2729550"/>
            <a:ext cx="1862400" cy="1597200"/>
          </a:xfrm>
          <a:prstGeom prst="uturnArrow">
            <a:avLst>
              <a:gd fmla="val 14910" name="adj1"/>
              <a:gd fmla="val 17569" name="adj2"/>
              <a:gd fmla="val 29735" name="adj3"/>
              <a:gd fmla="val 45382" name="adj4"/>
              <a:gd fmla="val 99894" name="adj5"/>
            </a:avLst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 rot="5400000">
            <a:off x="5665200" y="2464650"/>
            <a:ext cx="1298100" cy="1562700"/>
          </a:xfrm>
          <a:prstGeom prst="uturnArrow">
            <a:avLst>
              <a:gd fmla="val 18616" name="adj1"/>
              <a:gd fmla="val 17116" name="adj2"/>
              <a:gd fmla="val 20651" name="adj3"/>
              <a:gd fmla="val 45382" name="adj4"/>
              <a:gd fmla="val 100000" name="adj5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 rot="5400000">
            <a:off x="5827275" y="2302650"/>
            <a:ext cx="793500" cy="1382100"/>
          </a:xfrm>
          <a:prstGeom prst="uturnArrow">
            <a:avLst>
              <a:gd fmla="val 33245" name="adj1"/>
              <a:gd fmla="val 25000" name="adj2"/>
              <a:gd fmla="val 29023" name="adj3"/>
              <a:gd fmla="val 45382" name="adj4"/>
              <a:gd fmla="val 99894" name="adj5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850392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AlphaEvolve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2D2D7"/>
                </a:solidFill>
              </a:rPr>
              <a:t>16</a:t>
            </a:r>
            <a:endParaRPr sz="900">
              <a:solidFill>
                <a:srgbClr val="D2D2D7"/>
              </a:solidFill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평가 가능한 최적화 문제의 자동 탐색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문제 정의  →  코드 생성  →  실행·평가  →  선택·변형  →  반복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731520" y="20116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56년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731520" y="26517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Strassen 최초 개선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566160" y="20116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32.5%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566160" y="26517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FlashAttention 가속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400800" y="20116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TPU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400800" y="26517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Verilog 회로 수정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731520" y="3291840"/>
            <a:ext cx="7863840" cy="914400"/>
          </a:xfrm>
          <a:prstGeom prst="roundRect">
            <a:avLst>
              <a:gd fmla="val 10000" name="adj"/>
            </a:avLst>
          </a:prstGeom>
          <a:solidFill>
            <a:srgbClr val="F5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914400" y="3429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1572768" y="34290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2231136" y="3429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820C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2889504" y="34290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3547872" y="3429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4206240" y="34290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864608" y="3429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522976" y="34290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6181344" y="3429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Mutate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839712" y="34290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7498080" y="3429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914400" y="3840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Works only when evaluator exists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Alpha Evolve 와 같은 AI가 인간의 개입 없이 스스로를 발전시키는 방법론이 핵심 주제로 떠오를 것이다.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86868B"/>
                </a:solidFill>
              </a:rPr>
              <a:t>Post-Transformer는 인간이 아닌 AI가 만들 것이다.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900">
                <a:solidFill>
                  <a:srgbClr val="D2D2D7"/>
                </a:solidFill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D1D1F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3200400" y="292608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20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6868B"/>
                </a:solidFill>
                <a:latin typeface="Arial"/>
                <a:ea typeface="Arial"/>
                <a:cs typeface="Arial"/>
                <a:sym typeface="Arial"/>
              </a:rPr>
              <a:t>김현우 · 김민솔 · 김진희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D2D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2D2D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900">
                <a:solidFill>
                  <a:srgbClr val="D2D2D7"/>
                </a:solidFill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